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293"/>
    <a:srgbClr val="0B2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5" d="100"/>
          <a:sy n="65" d="100"/>
        </p:scale>
        <p:origin x="40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31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-2377440"/>
            <a:ext cx="5943600" cy="5943600"/>
          </a:xfrm>
          <a:prstGeom prst="ellipse">
            <a:avLst/>
          </a:prstGeom>
          <a:solidFill>
            <a:srgbClr val="12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332720" y="374904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463040" y="4572000"/>
            <a:ext cx="4206240" cy="4206240"/>
          </a:xfrm>
          <a:prstGeom prst="ellipse">
            <a:avLst/>
          </a:prstGeom>
          <a:solidFill>
            <a:srgbClr val="F264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work/ppt_assets/icons/tint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9052560" y="5074920"/>
            <a:ext cx="566928" cy="566928"/>
          </a:xfrm>
          <a:prstGeom prst="rect">
            <a:avLst/>
          </a:prstGeom>
        </p:spPr>
      </p:pic>
      <p:pic>
        <p:nvPicPr>
          <p:cNvPr id="7" name="Image 1" descr="/home/claude/work/ppt_assets/icons/thermo.png"/>
          <p:cNvPicPr>
            <a:picLocks noChangeAspect="1"/>
          </p:cNvPicPr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10012680" y="5074920"/>
            <a:ext cx="566928" cy="566928"/>
          </a:xfrm>
          <a:prstGeom prst="rect">
            <a:avLst/>
          </a:prstGeom>
        </p:spPr>
      </p:pic>
      <p:pic>
        <p:nvPicPr>
          <p:cNvPr id="8" name="Image 2" descr="/home/claude/work/ppt_assets/icons/gauge.png"/>
          <p:cNvPicPr>
            <a:picLocks noChangeAspect="1"/>
          </p:cNvPicPr>
          <p:nvPr/>
        </p:nvPicPr>
        <p:blipFill>
          <a:blip r:embed="rId5">
            <a:alphaModFix amt="28000"/>
          </a:blip>
          <a:stretch>
            <a:fillRect/>
          </a:stretch>
        </p:blipFill>
        <p:spPr>
          <a:xfrm>
            <a:off x="10972800" y="5074920"/>
            <a:ext cx="566928" cy="566928"/>
          </a:xfrm>
          <a:prstGeom prst="rect">
            <a:avLst/>
          </a:prstGeom>
        </p:spPr>
      </p:pic>
      <p:pic>
        <p:nvPicPr>
          <p:cNvPr id="9" name="Image 3" descr="/home/claude/work/ppt_assets/icons/wind.png"/>
          <p:cNvPicPr>
            <a:picLocks noChangeAspect="1"/>
          </p:cNvPicPr>
          <p:nvPr/>
        </p:nvPicPr>
        <p:blipFill>
          <a:blip r:embed="rId6">
            <a:alphaModFix amt="28000"/>
          </a:blip>
          <a:stretch>
            <a:fillRect/>
          </a:stretch>
        </p:blipFill>
        <p:spPr>
          <a:xfrm>
            <a:off x="9052560" y="6035040"/>
            <a:ext cx="566928" cy="566928"/>
          </a:xfrm>
          <a:prstGeom prst="rect">
            <a:avLst/>
          </a:prstGeom>
        </p:spPr>
      </p:pic>
      <p:pic>
        <p:nvPicPr>
          <p:cNvPr id="10" name="Image 4" descr="/home/claude/work/ppt_assets/icons/atom.png"/>
          <p:cNvPicPr>
            <a:picLocks noChangeAspect="1"/>
          </p:cNvPicPr>
          <p:nvPr/>
        </p:nvPicPr>
        <p:blipFill>
          <a:blip r:embed="rId7">
            <a:alphaModFix amt="28000"/>
          </a:blip>
          <a:stretch>
            <a:fillRect/>
          </a:stretch>
        </p:blipFill>
        <p:spPr>
          <a:xfrm>
            <a:off x="10012680" y="6035040"/>
            <a:ext cx="566928" cy="566928"/>
          </a:xfrm>
          <a:prstGeom prst="rect">
            <a:avLst/>
          </a:prstGeom>
        </p:spPr>
      </p:pic>
      <p:pic>
        <p:nvPicPr>
          <p:cNvPr id="11" name="Image 5" descr="/home/claude/work/ppt_assets/icons/chart.png"/>
          <p:cNvPicPr>
            <a:picLocks noChangeAspect="1"/>
          </p:cNvPicPr>
          <p:nvPr/>
        </p:nvPicPr>
        <p:blipFill>
          <a:blip r:embed="rId8">
            <a:alphaModFix amt="28000"/>
          </a:blip>
          <a:stretch>
            <a:fillRect/>
          </a:stretch>
        </p:blipFill>
        <p:spPr>
          <a:xfrm>
            <a:off x="10972800" y="6035040"/>
            <a:ext cx="566928" cy="56692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8580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COMSOL MULTIPHYSICS  •  CFD MODULE  •  HEAT TRANSFER MODULE</a:t>
            </a:r>
            <a:endParaRPr lang="en-US" sz="1250" dirty="0"/>
          </a:p>
        </p:txBody>
      </p:sp>
      <p:sp>
        <p:nvSpPr>
          <p:cNvPr id="13" name="Text 5"/>
          <p:cNvSpPr/>
          <p:nvPr/>
        </p:nvSpPr>
        <p:spPr>
          <a:xfrm>
            <a:off x="658368" y="18745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CFD Simulation and Thermal Design of a</a:t>
            </a:r>
            <a:endParaRPr lang="en-US" sz="3300" dirty="0"/>
          </a:p>
        </p:txBody>
      </p:sp>
      <p:sp>
        <p:nvSpPr>
          <p:cNvPr id="14" name="Text 6"/>
          <p:cNvSpPr/>
          <p:nvPr/>
        </p:nvSpPr>
        <p:spPr>
          <a:xfrm>
            <a:off x="658368" y="245059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Baffled Shell and Tube Heat Exchanger</a:t>
            </a:r>
            <a:endParaRPr lang="en-US" sz="4000" dirty="0"/>
          </a:p>
        </p:txBody>
      </p:sp>
      <p:sp>
        <p:nvSpPr>
          <p:cNvPr id="15" name="Shape 7"/>
          <p:cNvSpPr/>
          <p:nvPr/>
        </p:nvSpPr>
        <p:spPr>
          <a:xfrm>
            <a:off x="685800" y="3401568"/>
            <a:ext cx="2834640" cy="0"/>
          </a:xfrm>
          <a:prstGeom prst="line">
            <a:avLst/>
          </a:prstGeom>
          <a:noFill/>
          <a:ln w="28575">
            <a:solidFill>
              <a:srgbClr val="6FB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8"/>
          <p:cNvSpPr/>
          <p:nvPr/>
        </p:nvSpPr>
        <p:spPr>
          <a:xfrm>
            <a:off x="685800" y="35661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Tube, Six Baffle CAD Model  •  Conjugate CFD Simulation  •  Independent Manual Verification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68580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Frais</a:t>
            </a:r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685800" y="6291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9,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journey from CAD geometry through CFD simulation to independently verified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804672" y="2221992"/>
            <a:ext cx="621792" cy="621792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7" name="Image 0" descr="/home/claude/work/ppt_assets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02" y="2371222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0" y="213055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7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4672" y="2953512"/>
            <a:ext cx="3008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4672" y="3264408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exchanger, and what we set out to prove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25112" y="19659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9"/>
          <p:cNvSpPr/>
          <p:nvPr/>
        </p:nvSpPr>
        <p:spPr>
          <a:xfrm>
            <a:off x="4581144" y="2221992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3" name="Image 1" descr="/home/claude/work/ppt_assets/icons/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374" y="2371222"/>
            <a:ext cx="323332" cy="3233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76872" y="213055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7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4581144" y="2953512"/>
            <a:ext cx="3008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581144" y="3264408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to validated results, end to end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01584" y="19659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4"/>
          <p:cNvSpPr/>
          <p:nvPr/>
        </p:nvSpPr>
        <p:spPr>
          <a:xfrm>
            <a:off x="8357616" y="2221992"/>
            <a:ext cx="621792" cy="621792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9" name="Image 2" descr="/home/claude/work/ppt_assets/icons/c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6846" y="2371222"/>
            <a:ext cx="323332" cy="3233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53344" y="213055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7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8357616" y="2953512"/>
            <a:ext cx="3008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Geometry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8357616" y="3264408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tube bundle, six segmental baffles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41148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19"/>
          <p:cNvSpPr/>
          <p:nvPr/>
        </p:nvSpPr>
        <p:spPr>
          <a:xfrm>
            <a:off x="804672" y="4370832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5" name="Image 3" descr="/home/claude/work/ppt_assets/icons/at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902" y="4520062"/>
            <a:ext cx="323332" cy="3233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200400" y="427939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7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804672" y="5102352"/>
            <a:ext cx="3008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Setup</a:t>
            </a: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804672" y="5413248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 flow and conjugate heat transfer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25112" y="41148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4"/>
          <p:cNvSpPr/>
          <p:nvPr/>
        </p:nvSpPr>
        <p:spPr>
          <a:xfrm>
            <a:off x="4581144" y="4370832"/>
            <a:ext cx="621792" cy="621792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31" name="Image 4" descr="/home/claude/work/ppt_assets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0374" y="4520062"/>
            <a:ext cx="323332" cy="3233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76872" y="427939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7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4581144" y="5102352"/>
            <a:ext cx="3008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Results</a:t>
            </a: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4581144" y="5413248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velocity and pressure fields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101584" y="41148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6" name="Shape 29"/>
          <p:cNvSpPr/>
          <p:nvPr/>
        </p:nvSpPr>
        <p:spPr>
          <a:xfrm>
            <a:off x="8357616" y="4370832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37" name="Image 5" descr="/home/claude/work/ppt_assets/icons/calcula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6846" y="4520062"/>
            <a:ext cx="323332" cy="3233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753344" y="427939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7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39" name="Text 31"/>
          <p:cNvSpPr/>
          <p:nvPr/>
        </p:nvSpPr>
        <p:spPr>
          <a:xfrm>
            <a:off x="8357616" y="5102352"/>
            <a:ext cx="3008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Validation</a:t>
            </a: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8357616" y="5413248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hand calculations, cross checked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Baffled Shell and Tube Exchanger?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of industrial heat transfer.  </a:t>
            </a:r>
            <a:r>
              <a:rPr lang="en-US" sz="1600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fluid flows inside a bundle of parallel tubes; a second fluid flows through the surrounding shell, guided across the tubes by a series of baffle plates.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6" name="Image 0" descr="/home/claude/work/ppt_assets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8712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71576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Baffles support the tubes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299008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sagging and flow induced vibration along the bundle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675888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10" name="Image 1" descr="/home/claude/work/ppt_assets/icons/wi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8039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64845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Baffles force cross flow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234440" y="392277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side fluid zig zags across the tube bank instead of flowing straight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460857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14" name="Image 2" descr="/home/claude/work/ppt_assets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73659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58114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flow boosts heat transfer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234440" y="485546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higher shell side coefficient than plain axial flow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903720" y="1371600"/>
            <a:ext cx="4754880" cy="4434840"/>
          </a:xfrm>
          <a:prstGeom prst="roundRect">
            <a:avLst>
              <a:gd name="adj" fmla="val 1649"/>
            </a:avLst>
          </a:prstGeom>
          <a:solidFill>
            <a:srgbClr val="F1F6FA"/>
          </a:solidFill>
          <a:ln/>
          <a:effectLst>
            <a:outerShdw blurRad="76200" dist="25400" dir="5400000" algn="bl" rotWithShape="0">
              <a:srgbClr val="0B2E4F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8" name="Image 3" descr="/home/claude/work/figs/fig_cad_geomet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600200"/>
            <a:ext cx="4389120" cy="32918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4937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project: 7 tubes • 6 segmental baffles • counter current shell and tube design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029200" cy="5029200"/>
          </a:xfrm>
          <a:prstGeom prst="ellipse">
            <a:avLst/>
          </a:prstGeom>
          <a:solidFill>
            <a:srgbClr val="123A5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THIS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15184" cy="4160520"/>
          </a:xfrm>
          <a:prstGeom prst="roundRect">
            <a:avLst>
              <a:gd name="adj" fmla="val 3497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1467612" y="2057400"/>
            <a:ext cx="777240" cy="777240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7" name="Image 0" descr="/home/claude/work/ppt_assets/icons/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694" y="22594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8562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2249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Geometry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4672" y="36576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accurate parametric CAD model of the seven tube, six baffle exchanger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64992" y="1691640"/>
            <a:ext cx="2615184" cy="4160520"/>
          </a:xfrm>
          <a:prstGeom prst="roundRect">
            <a:avLst>
              <a:gd name="adj" fmla="val 3497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Shape 9"/>
          <p:cNvSpPr/>
          <p:nvPr/>
        </p:nvSpPr>
        <p:spPr>
          <a:xfrm>
            <a:off x="4283964" y="2057400"/>
            <a:ext cx="777240" cy="777240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3" name="Image 1" descr="/home/claude/work/ppt_assets/icons/a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046" y="225948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9584" y="18562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547872" y="3063240"/>
            <a:ext cx="2249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Physics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621024" y="36576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turbulent flow with conjugate heat transfer across the tube walls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81344" y="1691640"/>
            <a:ext cx="2615184" cy="4160520"/>
          </a:xfrm>
          <a:prstGeom prst="roundRect">
            <a:avLst>
              <a:gd name="adj" fmla="val 3497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Shape 14"/>
          <p:cNvSpPr/>
          <p:nvPr/>
        </p:nvSpPr>
        <p:spPr>
          <a:xfrm>
            <a:off x="7100316" y="2057400"/>
            <a:ext cx="777240" cy="777240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9" name="Image 2" descr="/home/claude/work/ppt_assets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398" y="2259482"/>
            <a:ext cx="373075" cy="3730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18562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364224" y="3063240"/>
            <a:ext cx="2249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Field Results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437376" y="36576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temperature, velocity and pressure fields, and port averaged values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997696" y="1691640"/>
            <a:ext cx="2615184" cy="4160520"/>
          </a:xfrm>
          <a:prstGeom prst="roundRect">
            <a:avLst>
              <a:gd name="adj" fmla="val 3497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Shape 19"/>
          <p:cNvSpPr/>
          <p:nvPr/>
        </p:nvSpPr>
        <p:spPr>
          <a:xfrm>
            <a:off x="9916668" y="2057400"/>
            <a:ext cx="777240" cy="777240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5" name="Image 3" descr="/home/claude/work/ppt_assets/icons/calcula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8750" y="2259482"/>
            <a:ext cx="373075" cy="3730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62288" y="18562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180576" y="3063240"/>
            <a:ext cx="22494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Independently</a:t>
            </a: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9253728" y="36576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calculate energy balance, LMTD, U and effectiveness NTU from first principles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VERIFIED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8271" y="2103120"/>
            <a:ext cx="566928" cy="566928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5" name="Image 0" descr="/home/claude/work/ppt_assets/icons/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003" y="2244852"/>
            <a:ext cx="283464" cy="2834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27455" y="20299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E4F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7" name="Text 4"/>
          <p:cNvSpPr/>
          <p:nvPr/>
        </p:nvSpPr>
        <p:spPr>
          <a:xfrm>
            <a:off x="1427455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65760" y="277977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Modelling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20040" y="314553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geometry: shell, tubes, baffles, nozzles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66135" y="2340569"/>
            <a:ext cx="1097280" cy="18288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Shape 8"/>
          <p:cNvSpPr/>
          <p:nvPr/>
        </p:nvSpPr>
        <p:spPr>
          <a:xfrm>
            <a:off x="2983916" y="210312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2" name="Image 1" descr="/home/claude/work/ppt_assets/icon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648" y="2244852"/>
            <a:ext cx="283464" cy="2834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13100" y="20299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4" name="Text 10"/>
          <p:cNvSpPr/>
          <p:nvPr/>
        </p:nvSpPr>
        <p:spPr>
          <a:xfrm>
            <a:off x="3313100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251405" y="277977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Meshing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205685" y="314553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tetrahedral mesh with wall boundary layers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869561" y="2103120"/>
            <a:ext cx="566928" cy="566928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9" name="Image 2" descr="/home/claude/work/ppt_assets/icons/a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1293" y="2244852"/>
            <a:ext cx="283464" cy="28346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198745" y="20299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E4F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1" name="Text 16"/>
          <p:cNvSpPr/>
          <p:nvPr/>
        </p:nvSpPr>
        <p:spPr>
          <a:xfrm>
            <a:off x="5198745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137050" y="277977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Setup</a:t>
            </a: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091330" y="314553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epsilon turbulence and conjugate heat transfer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755206" y="210312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26" name="Image 3" descr="/home/claude/work/ppt_assets/icons/p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6938" y="2244852"/>
            <a:ext cx="283464" cy="28346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084390" y="20299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8" name="Text 22"/>
          <p:cNvSpPr/>
          <p:nvPr/>
        </p:nvSpPr>
        <p:spPr>
          <a:xfrm>
            <a:off x="7084390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6022696" y="277977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Solve</a:t>
            </a: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5976976" y="314553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nonisothermal flow, stationary solver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640851" y="2103120"/>
            <a:ext cx="566928" cy="566928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33" name="Image 4" descr="/home/claude/work/ppt_assets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2583" y="2244852"/>
            <a:ext cx="283464" cy="283464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970035" y="20299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E4F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5" name="Text 28"/>
          <p:cNvSpPr/>
          <p:nvPr/>
        </p:nvSpPr>
        <p:spPr>
          <a:xfrm>
            <a:off x="8970035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7908341" y="277977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Processing</a:t>
            </a: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7862621" y="314553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plots and port averaged derived values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10526497" y="2103120"/>
            <a:ext cx="566928" cy="56692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40" name="Image 5" descr="/home/claude/work/ppt_assets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229" y="2244852"/>
            <a:ext cx="283464" cy="283464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0855681" y="20299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6419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2" name="Text 34"/>
          <p:cNvSpPr/>
          <p:nvPr/>
        </p:nvSpPr>
        <p:spPr>
          <a:xfrm>
            <a:off x="10855681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9793986" y="277977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Validation</a:t>
            </a: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9748266" y="314553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hand calculation cross check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1F6F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6" name="Shape 38"/>
          <p:cNvSpPr/>
          <p:nvPr/>
        </p:nvSpPr>
        <p:spPr>
          <a:xfrm>
            <a:off x="713232" y="5660136"/>
            <a:ext cx="512064" cy="512064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47" name="Image 6" descr="/home/claude/work/ppt_assets/icons/exchan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5788152"/>
            <a:ext cx="256032" cy="25603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417320" y="56144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simulated result in this project is cross checked against a hand calculation performed from first principles, not simply restated from COMSOL.</a:t>
            </a: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CD273C89-2704-FA60-668B-5E04C8310FC0}"/>
              </a:ext>
            </a:extLst>
          </p:cNvPr>
          <p:cNvSpPr/>
          <p:nvPr/>
        </p:nvSpPr>
        <p:spPr>
          <a:xfrm>
            <a:off x="5542635" y="2319921"/>
            <a:ext cx="1097280" cy="182880"/>
          </a:xfrm>
          <a:prstGeom prst="rightArrow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72D16783-72E4-9921-40D8-330748E39E38}"/>
              </a:ext>
            </a:extLst>
          </p:cNvPr>
          <p:cNvSpPr/>
          <p:nvPr/>
        </p:nvSpPr>
        <p:spPr>
          <a:xfrm>
            <a:off x="1792910" y="2322576"/>
            <a:ext cx="1097280" cy="182880"/>
          </a:xfrm>
          <a:prstGeom prst="rightArrow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0BECC897-F1C0-8FA1-A57D-6E5E9514FFD6}"/>
              </a:ext>
            </a:extLst>
          </p:cNvPr>
          <p:cNvSpPr/>
          <p:nvPr/>
        </p:nvSpPr>
        <p:spPr>
          <a:xfrm>
            <a:off x="7447559" y="2322576"/>
            <a:ext cx="1097280" cy="18288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19B54D99-3C43-B8B5-3ED5-1191CC0C51BB}"/>
              </a:ext>
            </a:extLst>
          </p:cNvPr>
          <p:cNvSpPr/>
          <p:nvPr/>
        </p:nvSpPr>
        <p:spPr>
          <a:xfrm>
            <a:off x="9303791" y="2322576"/>
            <a:ext cx="1097280" cy="182880"/>
          </a:xfrm>
          <a:prstGeom prst="rightArrow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92240" cy="4892040"/>
          </a:xfrm>
          <a:prstGeom prst="roundRect">
            <a:avLst>
              <a:gd name="adj" fmla="val 1495"/>
            </a:avLst>
          </a:prstGeom>
          <a:solidFill>
            <a:srgbClr val="F1F6FA"/>
          </a:solidFill>
          <a:ln/>
          <a:effectLst>
            <a:outerShdw blurRad="76200" dist="25400" dir="5400000" algn="bl" rotWithShape="0">
              <a:srgbClr val="0B2E4F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5" name="Image 0" descr="/home/claude/work/figs/fig_cad_geo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0350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17320"/>
            <a:ext cx="4343400" cy="1078992"/>
          </a:xfrm>
          <a:prstGeom prst="roundRect">
            <a:avLst>
              <a:gd name="adj" fmla="val 7627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 sz="2800"/>
          </a:p>
        </p:txBody>
      </p:sp>
      <p:sp>
        <p:nvSpPr>
          <p:cNvPr id="7" name="Shape 4"/>
          <p:cNvSpPr/>
          <p:nvPr/>
        </p:nvSpPr>
        <p:spPr>
          <a:xfrm>
            <a:off x="7498080" y="1636776"/>
            <a:ext cx="621792" cy="621792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8" name="Image 1" descr="/home/claude/work/ppt_assets/icons/r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79222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mm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8321040" y="187452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outer radius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0" y="2660904"/>
            <a:ext cx="4343400" cy="1078992"/>
          </a:xfrm>
          <a:prstGeom prst="roundRect">
            <a:avLst>
              <a:gd name="adj" fmla="val 762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US" sz="2800"/>
          </a:p>
        </p:txBody>
      </p:sp>
      <p:sp>
        <p:nvSpPr>
          <p:cNvPr id="12" name="Shape 8"/>
          <p:cNvSpPr/>
          <p:nvPr/>
        </p:nvSpPr>
        <p:spPr>
          <a:xfrm>
            <a:off x="7498080" y="2880360"/>
            <a:ext cx="621792" cy="621792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3" name="Image 2" descr="/home/claude/work/ppt_assets/icons/r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303580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7523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608.5 mm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8321040" y="3118104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shell length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0" y="3904488"/>
            <a:ext cx="4343400" cy="1078992"/>
          </a:xfrm>
          <a:prstGeom prst="roundRect">
            <a:avLst>
              <a:gd name="adj" fmla="val 762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800"/>
          </a:p>
        </p:txBody>
      </p:sp>
      <p:sp>
        <p:nvSpPr>
          <p:cNvPr id="17" name="Shape 12"/>
          <p:cNvSpPr/>
          <p:nvPr/>
        </p:nvSpPr>
        <p:spPr>
          <a:xfrm>
            <a:off x="7498080" y="4123944"/>
            <a:ext cx="621792" cy="621792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8" name="Image 3" descr="/home/claude/work/ppt_assets/icons/c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427939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0" y="39959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20" name="Text 14"/>
          <p:cNvSpPr/>
          <p:nvPr/>
        </p:nvSpPr>
        <p:spPr>
          <a:xfrm>
            <a:off x="8321040" y="43616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tubes, 10 mm OD, triangular 30 mm pitch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315200" y="5148072"/>
            <a:ext cx="4343400" cy="1078992"/>
          </a:xfrm>
          <a:prstGeom prst="roundRect">
            <a:avLst>
              <a:gd name="adj" fmla="val 762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2800"/>
          </a:p>
        </p:txBody>
      </p:sp>
      <p:sp>
        <p:nvSpPr>
          <p:cNvPr id="22" name="Shape 16"/>
          <p:cNvSpPr/>
          <p:nvPr/>
        </p:nvSpPr>
        <p:spPr>
          <a:xfrm>
            <a:off x="7498080" y="5367528"/>
            <a:ext cx="621792" cy="621792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23" name="Image 4" descr="/home/claude/work/ppt_assets/icons/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28" y="5522976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21040" y="5239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25" name="Text 18"/>
          <p:cNvSpPr/>
          <p:nvPr/>
        </p:nvSpPr>
        <p:spPr>
          <a:xfrm>
            <a:off x="8321040" y="560527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Segmental baffles, 80 mm pitch, alternating cut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Exchanger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6" name="Image 0" descr="/home/claude/work/ppt_assets/icons/circleNo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9851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013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783080" y="224028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mm outer radius cylindrical shell with 9 mm thick end caps, 608.5 mm overall length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440680" cy="2084832"/>
          </a:xfrm>
          <a:prstGeom prst="roundRect">
            <a:avLst>
              <a:gd name="adj" fmla="val 4386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 sz="3200"/>
          </a:p>
        </p:txBody>
      </p:sp>
      <p:sp>
        <p:nvSpPr>
          <p:cNvPr id="10" name="Shape 7"/>
          <p:cNvSpPr/>
          <p:nvPr/>
        </p:nvSpPr>
        <p:spPr>
          <a:xfrm>
            <a:off x="6537960" y="178308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11" name="Image 1" descr="/home/claude/work/ppt_assets/icons/cu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042" y="19851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8013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 Bundle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7498080" y="224028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tubes of 10 mm outer diameter on a 30 mm triangular pitch, running the full shell length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48640" y="3867912"/>
            <a:ext cx="5440680" cy="2084832"/>
          </a:xfrm>
          <a:prstGeom prst="roundRect">
            <a:avLst>
              <a:gd name="adj" fmla="val 4386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3200"/>
          </a:p>
        </p:txBody>
      </p:sp>
      <p:sp>
        <p:nvSpPr>
          <p:cNvPr id="15" name="Shape 11"/>
          <p:cNvSpPr/>
          <p:nvPr/>
        </p:nvSpPr>
        <p:spPr>
          <a:xfrm>
            <a:off x="822960" y="4142232"/>
            <a:ext cx="777240" cy="777240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16" name="Image 2" descr="/home/claude/work/ppt_assets/icons/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42" y="4344314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1605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 Plates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1783080" y="4599432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segmental baffles, 60 mm radius by 3 mm thick, spaced 80 mm apart with alternating cut orientation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6263640" y="3867912"/>
            <a:ext cx="5440680" cy="2084832"/>
          </a:xfrm>
          <a:prstGeom prst="roundRect">
            <a:avLst>
              <a:gd name="adj" fmla="val 4386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3200"/>
          </a:p>
        </p:txBody>
      </p:sp>
      <p:sp>
        <p:nvSpPr>
          <p:cNvPr id="20" name="Shape 15"/>
          <p:cNvSpPr/>
          <p:nvPr/>
        </p:nvSpPr>
        <p:spPr>
          <a:xfrm>
            <a:off x="6537960" y="4142232"/>
            <a:ext cx="777240" cy="777240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21" name="Image 3" descr="/home/claude/work/ppt_assets/icons/wi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042" y="4344314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1605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Nozzles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7498080" y="4599432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radial inlet and outlet stubs mounted on the shell wall at diagonally opposite ends</a:t>
            </a: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1923"/>
            </a:avLst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6" name="Image 0" descr="/home/claude/work/ppt_assets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Aluminium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783080" y="2249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Solid: tube walls, baffles, shell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566160" y="28803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2700 kg/m³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914400" y="3282696"/>
            <a:ext cx="4754880" cy="0"/>
          </a:xfrm>
          <a:prstGeom prst="line">
            <a:avLst/>
          </a:prstGeom>
          <a:noFill/>
          <a:ln w="12700">
            <a:solidFill>
              <a:srgbClr val="123A5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9"/>
          <p:cNvSpPr/>
          <p:nvPr/>
        </p:nvSpPr>
        <p:spPr>
          <a:xfrm>
            <a:off x="914400" y="34472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566160" y="34472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 W/(m·K)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914400" y="3849624"/>
            <a:ext cx="4754880" cy="0"/>
          </a:xfrm>
          <a:prstGeom prst="line">
            <a:avLst/>
          </a:prstGeom>
          <a:noFill/>
          <a:ln w="12700">
            <a:solidFill>
              <a:srgbClr val="123A5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2"/>
          <p:cNvSpPr/>
          <p:nvPr/>
        </p:nvSpPr>
        <p:spPr>
          <a:xfrm>
            <a:off x="914400" y="401421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heat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566160" y="401421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J/(kg·K)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914400" y="4416552"/>
            <a:ext cx="4754880" cy="0"/>
          </a:xfrm>
          <a:prstGeom prst="line">
            <a:avLst/>
          </a:prstGeom>
          <a:noFill/>
          <a:ln w="12700">
            <a:solidFill>
              <a:srgbClr val="123A5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5"/>
          <p:cNvSpPr/>
          <p:nvPr/>
        </p:nvSpPr>
        <p:spPr>
          <a:xfrm>
            <a:off x="914400" y="45811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expansion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566160" y="45811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× 10⁻⁵ /K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914400" y="4983480"/>
            <a:ext cx="4754880" cy="0"/>
          </a:xfrm>
          <a:prstGeom prst="line">
            <a:avLst/>
          </a:prstGeom>
          <a:noFill/>
          <a:ln w="12700">
            <a:solidFill>
              <a:srgbClr val="123A5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Shape 18"/>
          <p:cNvSpPr/>
          <p:nvPr/>
        </p:nvSpPr>
        <p:spPr>
          <a:xfrm>
            <a:off x="6263640" y="1463040"/>
            <a:ext cx="5440680" cy="4754880"/>
          </a:xfrm>
          <a:prstGeom prst="roundRect">
            <a:avLst>
              <a:gd name="adj" fmla="val 1923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2" name="Shape 19"/>
          <p:cNvSpPr/>
          <p:nvPr/>
        </p:nvSpPr>
        <p:spPr>
          <a:xfrm>
            <a:off x="6583680" y="178308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23" name="Image 1" descr="/home/claude/work/ppt_assets/icons/t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96596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9808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(Liquid)</a:t>
            </a:r>
            <a:endParaRPr lang="en-US" sz="3200" dirty="0"/>
          </a:p>
        </p:txBody>
      </p:sp>
      <p:sp>
        <p:nvSpPr>
          <p:cNvPr id="25" name="Text 21"/>
          <p:cNvSpPr/>
          <p:nvPr/>
        </p:nvSpPr>
        <p:spPr>
          <a:xfrm>
            <a:off x="7498080" y="2249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Fluid: hot shell side and cold tube side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62940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dependent properties (density, viscosity, heat capacity, conductivity) evaluated locally, not held constant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04879"/>
              </p:ext>
            </p:extLst>
          </p:nvPr>
        </p:nvGraphicFramePr>
        <p:xfrm>
          <a:off x="6629400" y="3383280"/>
          <a:ext cx="4754880" cy="2194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Cold, ~36°C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Hot, ~59°C</a:t>
                      </a:r>
                      <a:endParaRPr lang="en-US" sz="18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Density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994 kg/m³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984 kg/m³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Viscosity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6.9×10⁻⁴ Pa·s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4.7×10⁻⁴ Pa·s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Specific heat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4178 J/(kg·K)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4185 J/(kg·K)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Conductivity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0.62 W/(m·K)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3232F"/>
                          </a:solidFill>
                        </a:rPr>
                        <a:t>0.65 W/(m·K)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3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and Boundary Conditions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67277" y="2007291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091405" y="2208459"/>
            <a:ext cx="694944" cy="694944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6" name="Image 0" descr="/home/claude/work/ppt_assets/icon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141" y="2382195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58717" y="3031419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Exchanger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409677" y="1851843"/>
            <a:ext cx="475488" cy="47548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9" name="Image 1" descr="/home/claude/work/ppt_assets/icons/f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794" y="1965960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8157" y="2382195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Inlet (Shell)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kg/s @ 70.0°C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049757" y="2208459"/>
            <a:ext cx="3017520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2" name="Shape 8"/>
          <p:cNvSpPr/>
          <p:nvPr/>
        </p:nvSpPr>
        <p:spPr>
          <a:xfrm>
            <a:off x="8980909" y="1815267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3" name="Image 2" descr="/home/claude/work/ppt_assets/icons/f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026" y="1929384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9389" y="2345619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Outlet (Shell)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48.1°C, gauge P ≈ 0 Pa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801120" y="2176638"/>
            <a:ext cx="1133856" cy="0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6" name="Shape 11"/>
          <p:cNvSpPr/>
          <p:nvPr/>
        </p:nvSpPr>
        <p:spPr>
          <a:xfrm>
            <a:off x="9044917" y="2866827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7" name="Image 3" descr="/home/claude/work/ppt_assets/icons/snowfl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9034" y="2980944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13397" y="3369747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Inlet (Tube)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kg/s @ 25.0°C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 flipH="1">
            <a:off x="1958317" y="3221903"/>
            <a:ext cx="3108960" cy="0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0" name="Shape 14"/>
          <p:cNvSpPr/>
          <p:nvPr/>
        </p:nvSpPr>
        <p:spPr>
          <a:xfrm>
            <a:off x="1348717" y="2907792"/>
            <a:ext cx="475488" cy="47548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1" name="Image 4" descr="/home/claude/work/ppt_assets/icons/snowfl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2834" y="3021909"/>
            <a:ext cx="247254" cy="24725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71477" y="3360237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Outlet (Tube)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47.5°C, gauge P ≈ 0 Pa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 flipH="1" flipV="1">
            <a:off x="7810476" y="3223441"/>
            <a:ext cx="1284549" cy="1"/>
          </a:xfrm>
          <a:prstGeom prst="line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4" name="Shape 17"/>
          <p:cNvSpPr/>
          <p:nvPr/>
        </p:nvSpPr>
        <p:spPr>
          <a:xfrm>
            <a:off x="485920" y="4887468"/>
            <a:ext cx="3639312" cy="960120"/>
          </a:xfrm>
          <a:prstGeom prst="roundRect">
            <a:avLst>
              <a:gd name="adj" fmla="val 8571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5" name="Shape 18"/>
          <p:cNvSpPr/>
          <p:nvPr/>
        </p:nvSpPr>
        <p:spPr>
          <a:xfrm>
            <a:off x="668800" y="5024628"/>
            <a:ext cx="502920" cy="502920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26" name="Image 5" descr="/home/claude/work/ppt_assets/icons/at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530" y="5150358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08880" y="4988052"/>
            <a:ext cx="2679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epsilon Turbulence</a:t>
            </a: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1308880" y="5298948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 model with wall functions at all fluid solid boundaries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298968" y="4887468"/>
            <a:ext cx="3639312" cy="960120"/>
          </a:xfrm>
          <a:prstGeom prst="roundRect">
            <a:avLst>
              <a:gd name="adj" fmla="val 8571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30" name="Shape 22"/>
          <p:cNvSpPr/>
          <p:nvPr/>
        </p:nvSpPr>
        <p:spPr>
          <a:xfrm>
            <a:off x="4481848" y="5024628"/>
            <a:ext cx="502920" cy="502920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31" name="Image 6" descr="/home/claude/work/ppt_assets/icons/therm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7578" y="5150358"/>
            <a:ext cx="251460" cy="2514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121928" y="4988052"/>
            <a:ext cx="2679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Conjugate Heat Transfer</a:t>
            </a: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5121928" y="5298948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Nonisothermal Flow multiphysics coupling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8112016" y="4887468"/>
            <a:ext cx="3639312" cy="960120"/>
          </a:xfrm>
          <a:prstGeom prst="roundRect">
            <a:avLst>
              <a:gd name="adj" fmla="val 8571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35" name="Shape 26"/>
          <p:cNvSpPr/>
          <p:nvPr/>
        </p:nvSpPr>
        <p:spPr>
          <a:xfrm>
            <a:off x="8294896" y="5024628"/>
            <a:ext cx="502920" cy="502920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36" name="Image 7" descr="/home/claude/work/ppt_assets/icons/fil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626" y="5150358"/>
            <a:ext cx="251460" cy="2514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934976" y="4988052"/>
            <a:ext cx="2679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Adiabatic Shell</a:t>
            </a:r>
            <a:endParaRPr lang="en-US" dirty="0"/>
          </a:p>
        </p:txBody>
      </p:sp>
      <p:sp>
        <p:nvSpPr>
          <p:cNvPr id="38" name="Text 28"/>
          <p:cNvSpPr/>
          <p:nvPr/>
        </p:nvSpPr>
        <p:spPr>
          <a:xfrm>
            <a:off x="8934976" y="5298948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insulation applied to all outer boundaries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403837" y="6528999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11294128" y="6442305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Mesh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92240" cy="4892040"/>
          </a:xfrm>
          <a:prstGeom prst="roundRect">
            <a:avLst>
              <a:gd name="adj" fmla="val 1495"/>
            </a:avLst>
          </a:prstGeom>
          <a:solidFill>
            <a:srgbClr val="F1F6FA"/>
          </a:solidFill>
          <a:ln/>
          <a:effectLst>
            <a:outerShdw blurRad="76200" dist="25400" dir="5400000" algn="bl" rotWithShape="0">
              <a:srgbClr val="0B2E4F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ork/figs/fig_m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0350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17320"/>
            <a:ext cx="4343400" cy="1078992"/>
          </a:xfrm>
          <a:prstGeom prst="roundRect">
            <a:avLst>
              <a:gd name="adj" fmla="val 7627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0" y="1636776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8" name="Image 1" descr="/home/claude/work/ppt_assets/icon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79222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21040" y="1508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Tetrahedral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321040" y="18745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mesh with local refinement near tubes and baffle edges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15200" y="2660904"/>
            <a:ext cx="4343400" cy="1078992"/>
          </a:xfrm>
          <a:prstGeom prst="roundRect">
            <a:avLst>
              <a:gd name="adj" fmla="val 7627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498080" y="288036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3" name="Image 2" descr="/home/claude/work/ppt_assets/icons/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303580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75234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Layers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321040" y="311810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layer inflation at all walls, 2.5x stretching factor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0" y="3904488"/>
            <a:ext cx="4343400" cy="1078992"/>
          </a:xfrm>
          <a:prstGeom prst="roundRect">
            <a:avLst>
              <a:gd name="adj" fmla="val 7627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498080" y="4123944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8" name="Image 3" descr="/home/claude/work/ppt_assets/icons/rul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28" y="427939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0" y="39959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2.12 to 11.2 mm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8321040" y="43616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local element size around 5 mm tube walls and nozzles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315200" y="5148072"/>
            <a:ext cx="4343400" cy="1078992"/>
          </a:xfrm>
          <a:prstGeom prst="roundRect">
            <a:avLst>
              <a:gd name="adj" fmla="val 7627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498080" y="5367528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23" name="Image 4" descr="/home/claude/work/ppt_asse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5522976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21040" y="52395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Quality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8321040" y="560527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metric close to 1 throughout the fluid domain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858000" cy="4892040"/>
          </a:xfrm>
          <a:prstGeom prst="roundRect">
            <a:avLst>
              <a:gd name="adj" fmla="val 1495"/>
            </a:avLst>
          </a:prstGeom>
          <a:solidFill>
            <a:srgbClr val="F1F6FA"/>
          </a:solidFill>
          <a:ln/>
          <a:effectLst>
            <a:outerShdw blurRad="76200" dist="25400" dir="5400000" algn="bl" rotWithShape="0">
              <a:srgbClr val="0B2E4F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ork/figs/fig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36192"/>
            <a:ext cx="64922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3716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863840" y="1572768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8" name="Image 1" descr="/home/claude/work/ppt_assets/icons/fire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87284" y="1696212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49640" y="15727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STREAM (SHELL)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1812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70.0°C  →  48.1°C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7818120" y="27889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kg/s water, cooled by 21.9°C across the shell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35240" y="384048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863840" y="4041648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4" name="Image 2" descr="/home/claude/work/ppt_assets/icons/snowflake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87284" y="4165092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49640" y="40416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STREAM (TUBES)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818120" y="4617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25.0°C  →  47.5°C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7818120" y="5257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F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kg/s water, heated by 22.5°C through the tube bundle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635240" y="61996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and cold ports sit at opposite ends of the shell, confirming true counter current operation.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 and Pressure Fields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F1F6FA"/>
          </a:solidFill>
          <a:ln/>
          <a:effectLst>
            <a:outerShdw blurRad="76200" dist="25400" dir="5400000" algn="bl" rotWithShape="0">
              <a:srgbClr val="0B2E4F">
                <a:alpha val="12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5" name="Image 0" descr="/home/claude/work/figs/fig_velo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81328"/>
            <a:ext cx="51206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34440" y="507492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7" name="Text 4"/>
          <p:cNvSpPr/>
          <p:nvPr/>
        </p:nvSpPr>
        <p:spPr>
          <a:xfrm>
            <a:off x="1234440" y="5074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local velocity  ≈  0.55 m/s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57784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Magnitude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5870448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accelerates through the nozzle and baffle windows, sweeping in a zig zag cross flow over the tube bank.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9632" y="137160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F1F6FA"/>
          </a:solidFill>
          <a:ln/>
          <a:effectLst>
            <a:outerShdw blurRad="76200" dist="25400" dir="5400000" algn="bl" rotWithShape="0">
              <a:srgbClr val="0B2E4F">
                <a:alpha val="12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pic>
        <p:nvPicPr>
          <p:cNvPr id="11" name="Image 1" descr="/home/claude/work/figs/fig_pres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1481328"/>
            <a:ext cx="5120640" cy="3291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903720" y="507492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3" name="Text 9"/>
          <p:cNvSpPr/>
          <p:nvPr/>
        </p:nvSpPr>
        <p:spPr>
          <a:xfrm>
            <a:off x="6903720" y="5074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inlet pressure  ≈  206 Pa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199632" y="557784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Pressure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199632" y="5870448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falls smoothly from the hot inlet nozzle toward the outlets, held at 0 Pa gauge.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FIRST PRINCIPLES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Validation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39" y="1280160"/>
            <a:ext cx="112772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quantity below is computed by hand from the port averaged CFD temperatures and pressures only, not restated from COMSOL.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8271" y="2148840"/>
            <a:ext cx="566928" cy="566928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6" name="Image 0" descr="/home/claude/work/ppt_assets/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003" y="2290572"/>
            <a:ext cx="283464" cy="283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27455" y="2075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E4F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8" name="Text 5"/>
          <p:cNvSpPr/>
          <p:nvPr/>
        </p:nvSpPr>
        <p:spPr>
          <a:xfrm>
            <a:off x="1427455" y="2075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5760" y="282549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20040" y="319125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hot vs Q cold, closes to 0.68%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767269" y="2377440"/>
            <a:ext cx="1097280" cy="146304"/>
          </a:xfrm>
          <a:prstGeom prst="rightArrow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2" name="Shape 9"/>
          <p:cNvSpPr/>
          <p:nvPr/>
        </p:nvSpPr>
        <p:spPr>
          <a:xfrm>
            <a:off x="2983916" y="214884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3" name="Image 1" descr="/home/claude/work/ppt_assets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648" y="2290572"/>
            <a:ext cx="283464" cy="2834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13100" y="2075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5" name="Text 11"/>
          <p:cNvSpPr/>
          <p:nvPr/>
        </p:nvSpPr>
        <p:spPr>
          <a:xfrm>
            <a:off x="3313100" y="2075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251405" y="282549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LMTD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205685" y="319125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current log mean dT is about 22.7 K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869561" y="2148840"/>
            <a:ext cx="566928" cy="566928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20" name="Image 2" descr="/home/claude/work/ppt_assets/icons/ru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1293" y="2290572"/>
            <a:ext cx="283464" cy="28346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198745" y="2075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E4F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2" name="Text 17"/>
          <p:cNvSpPr/>
          <p:nvPr/>
        </p:nvSpPr>
        <p:spPr>
          <a:xfrm>
            <a:off x="5198745" y="2075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137050" y="282549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and U</a:t>
            </a: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091330" y="319125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 surface area, U about 15 180 W/m2K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755206" y="214884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27" name="Image 3" descr="/home/claude/work/ppt_assets/icons/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6938" y="2290572"/>
            <a:ext cx="283464" cy="28346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084390" y="2075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9" name="Text 23"/>
          <p:cNvSpPr/>
          <p:nvPr/>
        </p:nvSpPr>
        <p:spPr>
          <a:xfrm>
            <a:off x="7084390" y="2075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022696" y="282549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NTU</a:t>
            </a: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5976976" y="319125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check, U about 15 190 W/m2K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640851" y="2148840"/>
            <a:ext cx="566928" cy="566928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34" name="Image 4" descr="/home/claude/work/ppt_assets/icons/wi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2583" y="2290572"/>
            <a:ext cx="283464" cy="28346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970035" y="2075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E4F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6" name="Text 29"/>
          <p:cNvSpPr/>
          <p:nvPr/>
        </p:nvSpPr>
        <p:spPr>
          <a:xfrm>
            <a:off x="8970035" y="2075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7908341" y="282549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Check</a:t>
            </a: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7862621" y="319125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turbulent flow, both streams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10526497" y="2148840"/>
            <a:ext cx="566928" cy="56692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41" name="Image 5" descr="/home/claude/work/ppt_assets/icons/gau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229" y="2290572"/>
            <a:ext cx="283464" cy="283464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855681" y="2075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6419"/>
            </a:solidFill>
            <a:prstDash val="solid"/>
          </a:ln>
          <a:effectLst>
            <a:outerShdw blurRad="38100" dist="127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3" name="Text 35"/>
          <p:cNvSpPr/>
          <p:nvPr/>
        </p:nvSpPr>
        <p:spPr>
          <a:xfrm>
            <a:off x="10855681" y="2075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9793986" y="2825496"/>
            <a:ext cx="2031949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</a:t>
            </a: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9748266" y="3191256"/>
            <a:ext cx="21233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Pa shell side, 81 Pa tube side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1F6F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7" name="Shape 39"/>
          <p:cNvSpPr/>
          <p:nvPr/>
        </p:nvSpPr>
        <p:spPr>
          <a:xfrm>
            <a:off x="713232" y="566013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48" name="Image 6" descr="/home/claude/work/ppt_assets/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5788152"/>
            <a:ext cx="256032" cy="25603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417320" y="56144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3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independent routes to the overall heat transfer coefficient U agree to within 0.1%, confirming a thermally consistent solution.</a:t>
            </a: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100" dirty="0"/>
          </a:p>
        </p:txBody>
      </p:sp>
      <p:sp>
        <p:nvSpPr>
          <p:cNvPr id="51" name="Text 42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CAD8A0FA-3CEC-A4BC-E7ED-A5EB8345D2A8}"/>
              </a:ext>
            </a:extLst>
          </p:cNvPr>
          <p:cNvSpPr/>
          <p:nvPr/>
        </p:nvSpPr>
        <p:spPr>
          <a:xfrm>
            <a:off x="3688994" y="2405855"/>
            <a:ext cx="1097280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326FA573-890C-FA64-15C6-BF5000BE8172}"/>
              </a:ext>
            </a:extLst>
          </p:cNvPr>
          <p:cNvSpPr/>
          <p:nvPr/>
        </p:nvSpPr>
        <p:spPr>
          <a:xfrm>
            <a:off x="5516194" y="2386584"/>
            <a:ext cx="1097280" cy="146304"/>
          </a:xfrm>
          <a:prstGeom prst="rightArrow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4" name="Shape 8">
            <a:extLst>
              <a:ext uri="{FF2B5EF4-FFF2-40B4-BE49-F238E27FC236}">
                <a16:creationId xmlns:a16="http://schemas.microsoft.com/office/drawing/2014/main" id="{4613471D-5394-3A60-C07C-9600660F293D}"/>
              </a:ext>
            </a:extLst>
          </p:cNvPr>
          <p:cNvSpPr/>
          <p:nvPr/>
        </p:nvSpPr>
        <p:spPr>
          <a:xfrm>
            <a:off x="7437424" y="2368296"/>
            <a:ext cx="1097280" cy="14630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5" name="Shape 8">
            <a:extLst>
              <a:ext uri="{FF2B5EF4-FFF2-40B4-BE49-F238E27FC236}">
                <a16:creationId xmlns:a16="http://schemas.microsoft.com/office/drawing/2014/main" id="{CB6147BD-C967-B2F5-4081-29CA2B480A80}"/>
              </a:ext>
            </a:extLst>
          </p:cNvPr>
          <p:cNvSpPr/>
          <p:nvPr/>
        </p:nvSpPr>
        <p:spPr>
          <a:xfrm>
            <a:off x="9358351" y="2388255"/>
            <a:ext cx="1097280" cy="146304"/>
          </a:xfrm>
          <a:prstGeom prst="rightArrow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943600" cy="5943600"/>
          </a:xfrm>
          <a:prstGeom prst="ellipse">
            <a:avLst/>
          </a:prstGeom>
          <a:solidFill>
            <a:srgbClr val="12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48640" y="3767328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23A5E"/>
          </a:solidFill>
          <a:ln>
            <a:solidFill>
              <a:schemeClr val="accent1"/>
            </a:solidFill>
          </a:ln>
          <a:effectLst>
            <a:outerShdw blurRad="101600" dist="38100" dir="5400000" algn="bl" rotWithShape="0">
              <a:srgbClr val="0B2E4F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9875520" y="-2743200"/>
            <a:ext cx="5486400" cy="5486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 Dashboard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23A5E"/>
          </a:solidFill>
          <a:ln>
            <a:solidFill>
              <a:schemeClr val="accent1"/>
            </a:solidFill>
          </a:ln>
          <a:effectLst>
            <a:outerShdw blurRad="101600" dist="38100" dir="5400000" algn="bl" rotWithShape="0">
              <a:srgbClr val="0B2E4F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1559052" y="1801368"/>
            <a:ext cx="566928" cy="56692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8" name="Image 0" descr="/home/claude/work/ppt_assets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453" y="1948769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496312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46.2 kW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58368" y="30175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Duty, Q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9272" y="1600200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23A5E"/>
          </a:solidFill>
          <a:ln>
            <a:solidFill>
              <a:schemeClr val="accent1"/>
            </a:solidFill>
          </a:ln>
          <a:effectLst>
            <a:outerShdw blurRad="101600" dist="38100" dir="5400000" algn="bl" rotWithShape="0">
              <a:srgbClr val="0B2E4F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2" name="Shape 9"/>
          <p:cNvSpPr/>
          <p:nvPr/>
        </p:nvSpPr>
        <p:spPr>
          <a:xfrm>
            <a:off x="4329684" y="1801368"/>
            <a:ext cx="566928" cy="56692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3" name="Image 1" descr="/home/claude/work/ppt_assets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085" y="1948769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2496312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22.7 K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3429000" y="30175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Mean dT (LMTD)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9904" y="1600200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23A5E"/>
          </a:solidFill>
          <a:ln>
            <a:solidFill>
              <a:schemeClr val="accent1"/>
            </a:solidFill>
          </a:ln>
          <a:effectLst>
            <a:outerShdw blurRad="101600" dist="38100" dir="5400000" algn="bl" rotWithShape="0">
              <a:srgbClr val="0B2E4F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7" name="Shape 13"/>
          <p:cNvSpPr/>
          <p:nvPr/>
        </p:nvSpPr>
        <p:spPr>
          <a:xfrm>
            <a:off x="7100316" y="1801368"/>
            <a:ext cx="566928" cy="56692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8" name="Image 2" descr="/home/claude/work/ppt_assets/icons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717" y="1948769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2496312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15 180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6199632" y="30175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U, W/(m2K)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860536" y="1600200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23A5E"/>
          </a:solidFill>
          <a:ln>
            <a:solidFill>
              <a:schemeClr val="accent1"/>
            </a:solidFill>
          </a:ln>
          <a:effectLst>
            <a:outerShdw blurRad="101600" dist="38100" dir="5400000" algn="bl" rotWithShape="0">
              <a:srgbClr val="0B2E4F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2" name="Shape 17"/>
          <p:cNvSpPr/>
          <p:nvPr/>
        </p:nvSpPr>
        <p:spPr>
          <a:xfrm>
            <a:off x="9870948" y="1801368"/>
            <a:ext cx="566928" cy="56692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23" name="Image 3" descr="/home/claude/work/ppt_assets/icons/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8349" y="1948769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51976" y="2496312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49.3%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8970264" y="30175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 Effectiveness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1559052" y="3968496"/>
            <a:ext cx="566928" cy="56692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28" name="Image 4" descr="/home/claude/work/ppt_assets/icons/calcula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6453" y="4115897"/>
            <a:ext cx="272125" cy="2721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0080" y="4663440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3200" dirty="0"/>
          </a:p>
        </p:txBody>
      </p:sp>
      <p:sp>
        <p:nvSpPr>
          <p:cNvPr id="30" name="Text 23"/>
          <p:cNvSpPr/>
          <p:nvPr/>
        </p:nvSpPr>
        <p:spPr>
          <a:xfrm>
            <a:off x="658368" y="5184648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319272" y="3767328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23A5E"/>
          </a:solidFill>
          <a:ln>
            <a:solidFill>
              <a:schemeClr val="accent1"/>
            </a:solidFill>
          </a:ln>
          <a:effectLst>
            <a:outerShdw blurRad="101600" dist="38100" dir="5400000" algn="bl" rotWithShape="0">
              <a:srgbClr val="0B2E4F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2" name="Shape 25"/>
          <p:cNvSpPr/>
          <p:nvPr/>
        </p:nvSpPr>
        <p:spPr>
          <a:xfrm>
            <a:off x="4329684" y="3968496"/>
            <a:ext cx="566928" cy="56692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33" name="Image 5" descr="/home/claude/work/ppt_assets/icons/bal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7085" y="4115897"/>
            <a:ext cx="272125" cy="27212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410712" y="4663440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0.68%</a:t>
            </a:r>
            <a:endParaRPr lang="en-US" sz="3200" dirty="0"/>
          </a:p>
        </p:txBody>
      </p:sp>
      <p:sp>
        <p:nvSpPr>
          <p:cNvPr id="35" name="Text 27"/>
          <p:cNvSpPr/>
          <p:nvPr/>
        </p:nvSpPr>
        <p:spPr>
          <a:xfrm>
            <a:off x="3429000" y="5184648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 Closure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089904" y="3767328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23A5E"/>
          </a:solidFill>
          <a:ln>
            <a:solidFill>
              <a:schemeClr val="accent1"/>
            </a:solidFill>
          </a:ln>
          <a:effectLst>
            <a:outerShdw blurRad="101600" dist="38100" dir="5400000" algn="bl" rotWithShape="0">
              <a:srgbClr val="0B2E4F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7" name="Shape 29"/>
          <p:cNvSpPr/>
          <p:nvPr/>
        </p:nvSpPr>
        <p:spPr>
          <a:xfrm>
            <a:off x="7100316" y="3968496"/>
            <a:ext cx="566928" cy="56692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38" name="Image 6" descr="/home/claude/work/ppt_assets/icons/wi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7717" y="4115897"/>
            <a:ext cx="272125" cy="27212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181344" y="4663440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 Pa</a:t>
            </a:r>
            <a:endParaRPr lang="en-US" sz="3200" dirty="0"/>
          </a:p>
        </p:txBody>
      </p:sp>
      <p:sp>
        <p:nvSpPr>
          <p:cNvPr id="40" name="Text 31"/>
          <p:cNvSpPr/>
          <p:nvPr/>
        </p:nvSpPr>
        <p:spPr>
          <a:xfrm>
            <a:off x="6199632" y="5184648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Side Pressure Drop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8860536" y="3767328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23A5E"/>
          </a:solidFill>
          <a:ln>
            <a:solidFill>
              <a:schemeClr val="accent1"/>
            </a:solidFill>
          </a:ln>
          <a:effectLst>
            <a:outerShdw blurRad="101600" dist="38100" dir="5400000" algn="bl" rotWithShape="0">
              <a:srgbClr val="0B2E4F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2" name="Shape 33"/>
          <p:cNvSpPr/>
          <p:nvPr/>
        </p:nvSpPr>
        <p:spPr>
          <a:xfrm>
            <a:off x="9870948" y="3968496"/>
            <a:ext cx="566928" cy="56692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43" name="Image 7" descr="/home/claude/work/ppt_assets/icons/t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8349" y="4115897"/>
            <a:ext cx="272125" cy="27212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951976" y="4663440"/>
            <a:ext cx="2404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Pa</a:t>
            </a:r>
            <a:endParaRPr lang="en-US" sz="3200" dirty="0"/>
          </a:p>
        </p:txBody>
      </p:sp>
      <p:sp>
        <p:nvSpPr>
          <p:cNvPr id="45" name="Text 35"/>
          <p:cNvSpPr/>
          <p:nvPr/>
        </p:nvSpPr>
        <p:spPr>
          <a:xfrm>
            <a:off x="8970264" y="5184648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 Side Pressure Drop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ROUTES, ONE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Cross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480560" cy="3383280"/>
          </a:xfrm>
          <a:prstGeom prst="roundRect">
            <a:avLst>
              <a:gd name="adj" fmla="val 2703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2697480" y="2103120"/>
            <a:ext cx="731520" cy="731520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6" name="Image 0" descr="/home/claude/work/ppt_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999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LMTD Method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3401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U × A × F × LMTD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38862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≈ 15 180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1005840" y="44988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/ (m²·K)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97880" y="1828800"/>
            <a:ext cx="4480560" cy="3383280"/>
          </a:xfrm>
          <a:prstGeom prst="roundRect">
            <a:avLst>
              <a:gd name="adj" fmla="val 2703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2" name="Shape 9"/>
          <p:cNvSpPr/>
          <p:nvPr/>
        </p:nvSpPr>
        <p:spPr>
          <a:xfrm>
            <a:off x="7772400" y="210312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3" name="Image 1" descr="/home/claude/work/ppt_assets/icons/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286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89320" y="2999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NTU Method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989320" y="3401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= ε / (1 − ε)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989320" y="388620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≈ 15 190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5989320" y="44988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/ (m²·K)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271516" y="3191256"/>
            <a:ext cx="658368" cy="658368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9" name="Image 2" descr="/home/claude/work/ppt_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108" y="3355848"/>
            <a:ext cx="329184" cy="32918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22960" y="5532120"/>
            <a:ext cx="9555480" cy="777240"/>
          </a:xfrm>
          <a:prstGeom prst="roundRect">
            <a:avLst>
              <a:gd name="adj" fmla="val 10588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097280" y="5532120"/>
            <a:ext cx="9006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within 0.1%, providing strong internal cross validation of the manual calculation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TELL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and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6" name="Image 0" descr="/home/claude/work/ppt_assets/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9851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013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Thermally converged solution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224028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balance closes to within 0.68%, confirming the adiabatic shell CFD solution is physically consistent.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0" name="Shape 7"/>
          <p:cNvSpPr/>
          <p:nvPr/>
        </p:nvSpPr>
        <p:spPr>
          <a:xfrm>
            <a:off x="6537960" y="178308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1" name="Image 1" descr="/home/claude/work/ppt_assets/icons/wi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042" y="19851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8013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Turbulence model justified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498080" y="224028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numbers of about 13 000 (tube side) and 11 500 (shell side, local) confirm the k epsilon RANS choice.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67912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5" name="Shape 11"/>
          <p:cNvSpPr/>
          <p:nvPr/>
        </p:nvSpPr>
        <p:spPr>
          <a:xfrm>
            <a:off x="822960" y="4142232"/>
            <a:ext cx="777240" cy="777240"/>
          </a:xfrm>
          <a:prstGeom prst="ellipse">
            <a:avLst/>
          </a:prstGeom>
          <a:solidFill>
            <a:srgbClr val="0B2E4F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16" name="Image 2" descr="/home/claude/work/ppt_assets/icons/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42" y="4344314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1605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Baffles are doing their job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783080" y="459943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shell velocity is only about 0.03 m/s, but local acceleration through baffle windows reaches 0.55 m/s, driving turbulent cross flow heat transfer.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3867912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1F6FA"/>
          </a:solidFill>
          <a:ln/>
          <a:effectLst>
            <a:outerShdw blurRad="63500" dist="25400" dir="5400000" algn="bl" rotWithShape="0">
              <a:srgbClr val="0B2E4F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0" name="Shape 15"/>
          <p:cNvSpPr/>
          <p:nvPr/>
        </p:nvSpPr>
        <p:spPr>
          <a:xfrm>
            <a:off x="6537960" y="4142232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pic>
        <p:nvPicPr>
          <p:cNvPr id="21" name="Image 3" descr="/home/claude/work/ppt_assets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042" y="4344314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1605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improve effectiveness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498080" y="459943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NTU about 0.97 and effectiveness about 49%, more tubes, baffles, or shell length would meaningfully raise effectiveness without a large pressure drop penalty.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5486400" cy="5486400"/>
          </a:xfrm>
          <a:prstGeom prst="ellipse">
            <a:avLst/>
          </a:prstGeom>
          <a:solidFill>
            <a:srgbClr val="12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 model and conjugate CFD simulation of a seven tube, six baffle shell and tube heat exchanger were built and solved in COMSOL Multiphysics, coupling k epsilon turbulence with conjugate heat transfer through the tube walls.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hand calculations, energy balance, LMTD, effectiveness NTU, Reynolds number, and pressure drop, were carried out from first principles using only the geometry and the port averaged CFD outputs.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2578608" cy="1234440"/>
          </a:xfrm>
          <a:prstGeom prst="roundRect">
            <a:avLst>
              <a:gd name="adj" fmla="val 7407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3849624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46.2 kW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Duty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47288" y="3703320"/>
            <a:ext cx="2578608" cy="1234440"/>
          </a:xfrm>
          <a:prstGeom prst="roundRect">
            <a:avLst>
              <a:gd name="adj" fmla="val 7407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3538728" y="3849624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38728" y="443484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Closure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776" y="3703320"/>
            <a:ext cx="2578608" cy="1234440"/>
          </a:xfrm>
          <a:prstGeom prst="roundRect">
            <a:avLst>
              <a:gd name="adj" fmla="val 7407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6300216" y="3849624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0216" y="443484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Cross Check Agreement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70264" y="3703320"/>
            <a:ext cx="2578608" cy="1234440"/>
          </a:xfrm>
          <a:prstGeom prst="roundRect">
            <a:avLst>
              <a:gd name="adj" fmla="val 7407"/>
            </a:avLst>
          </a:prstGeom>
          <a:solidFill>
            <a:srgbClr val="123A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9061704" y="3849624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49.3%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61704" y="443484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257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results demonstrate that the CFD solution is thermally consistent, and that it can be used with confidence for further design iteration of this baffled shell and tube heat exchanger.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 SHELL AND TUBE HEAT EXCHANGER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943600" cy="5943600"/>
          </a:xfrm>
          <a:prstGeom prst="ellipse">
            <a:avLst/>
          </a:prstGeom>
          <a:solidFill>
            <a:srgbClr val="12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3931920"/>
            <a:ext cx="4754880" cy="47548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92928" y="1920240"/>
            <a:ext cx="1005840" cy="1005840"/>
          </a:xfrm>
          <a:prstGeom prst="ellipse">
            <a:avLst/>
          </a:prstGeom>
          <a:solidFill>
            <a:srgbClr val="F26419"/>
          </a:solidFill>
          <a:ln/>
          <a:effectLst>
            <a:outerShdw blurRad="101600" dist="38100" dir="5400000" algn="bl" rotWithShape="0">
              <a:srgbClr val="0B2E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ork/ppt_assets/icon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216164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815688" y="4709160"/>
            <a:ext cx="2560320" cy="0"/>
          </a:xfrm>
          <a:prstGeom prst="line">
            <a:avLst/>
          </a:prstGeom>
          <a:noFill/>
          <a:ln w="25400">
            <a:solidFill>
              <a:srgbClr val="12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523036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Simulation and Thermal Design of a Baffled Shell and Tube Heat Exchanger  •  COMSOL Multiphysics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1587</Words>
  <Application>Microsoft Office PowerPoint</Application>
  <PresentationFormat>Widescreen</PresentationFormat>
  <Paragraphs>294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Frais Asghar</cp:lastModifiedBy>
  <cp:revision>4</cp:revision>
  <dcterms:created xsi:type="dcterms:W3CDTF">2026-09-09T11:42:49Z</dcterms:created>
  <dcterms:modified xsi:type="dcterms:W3CDTF">2026-09-09T12:45:42Z</dcterms:modified>
</cp:coreProperties>
</file>